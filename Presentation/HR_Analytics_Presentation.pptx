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47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37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61520" cy="5486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Workforce Analysis, 2006 to 2019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employees   |   33.4% turnover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022F6-3259-1CC3-A7F0-395C5BE807ED}"/>
              </a:ext>
            </a:extLst>
          </p:cNvPr>
          <p:cNvSpPr txBox="1"/>
          <p:nvPr/>
        </p:nvSpPr>
        <p:spPr>
          <a:xfrm>
            <a:off x="6796726" y="6268825"/>
            <a:ext cx="366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Prepared by Idowu Blessing Apara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07008" y="1097280"/>
            <a:ext cx="10515600" cy="0"/>
          </a:xfrm>
          <a:prstGeom prst="line">
            <a:avLst/>
          </a:prstGeom>
          <a:noFill/>
          <a:ln w="19050">
            <a:solidFill>
              <a:srgbClr val="C7D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311 employees and 39 columns of HR records covering 2006 to 2019.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details: names, IDs, dates of birth, hire and termination dates, department, manager, and position.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and performance: salary, performance score, engagement survey, satisfaction score, and absences.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and demographics: recruitment source, marital status, and related fields.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hires, terminations, or performance reviews exist after 2019.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clean the data, build a dashboard, and answer eight business questions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Analytics, 2006 to 2019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07008" y="1097280"/>
            <a:ext cx="10515600" cy="0"/>
          </a:xfrm>
          <a:prstGeom prst="line">
            <a:avLst/>
          </a:prstGeom>
          <a:noFill/>
          <a:ln w="19050">
            <a:solidFill>
              <a:srgbClr val="C7D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Tenure 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to a 31 Dec 2019 cutoff, not today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1463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IDs 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blanks filled by name lookup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926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and PROPER-cased, acronyms kept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2926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to the Termd flag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389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Term_Year, Age_Group, Exceeds added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4434840"/>
            <a:ext cx="457200" cy="4572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4389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static values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00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Analytics, 2006 to 2019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&amp; KPIs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07008" y="1097280"/>
            <a:ext cx="10515600" cy="0"/>
          </a:xfrm>
          <a:prstGeom prst="line">
            <a:avLst/>
          </a:prstGeom>
          <a:noFill/>
          <a:ln w="19050">
            <a:solidFill>
              <a:srgbClr val="C7D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697480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556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146304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463040"/>
            <a:ext cx="2697480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7556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64992" y="2560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64224" y="146304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463040"/>
            <a:ext cx="2697480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7556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64224" y="2560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63456" y="146304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1463040"/>
            <a:ext cx="2697480" cy="82296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0" name="Text 18"/>
          <p:cNvSpPr/>
          <p:nvPr/>
        </p:nvSpPr>
        <p:spPr>
          <a:xfrm>
            <a:off x="9363456" y="17556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33.4%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363456" y="2560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91840"/>
            <a:ext cx="2697480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844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38.5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65760" y="4389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329184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4992" y="3291840"/>
            <a:ext cx="2697480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8" name="Text 26"/>
          <p:cNvSpPr/>
          <p:nvPr/>
        </p:nvSpPr>
        <p:spPr>
          <a:xfrm>
            <a:off x="3364992" y="35844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yr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3364992" y="4389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TENURE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64224" y="329184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64224" y="3291840"/>
            <a:ext cx="2697480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2" name="Text 30"/>
          <p:cNvSpPr/>
          <p:nvPr/>
        </p:nvSpPr>
        <p:spPr>
          <a:xfrm>
            <a:off x="6364224" y="35844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$69K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364224" y="4389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SALARY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63456" y="329184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63456" y="3291840"/>
            <a:ext cx="2697480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6" name="Text 34"/>
          <p:cNvSpPr/>
          <p:nvPr/>
        </p:nvSpPr>
        <p:spPr>
          <a:xfrm>
            <a:off x="9363456" y="35844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4.11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9363456" y="4389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KPIs, six PivotTables, six charts and three slicers, all built in Excel and refreshable.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200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Analytics, 2006 to 2019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Turnover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07008" y="1097280"/>
            <a:ext cx="10515600" cy="0"/>
          </a:xfrm>
          <a:prstGeom prst="line">
            <a:avLst/>
          </a:prstGeom>
          <a:noFill/>
          <a:ln w="19050">
            <a:solidFill>
              <a:srgbClr val="C7D5EC"/>
            </a:solidFill>
            <a:prstDash val="solid"/>
          </a:ln>
        </p:spPr>
      </p:sp>
      <p:pic>
        <p:nvPicPr>
          <p:cNvPr id="6" name="Image 0" descr="/home/claude/img/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577840" cy="3383280"/>
          </a:xfrm>
          <a:prstGeom prst="rect">
            <a:avLst/>
          </a:prstGeom>
        </p:spPr>
      </p:pic>
      <p:pic>
        <p:nvPicPr>
          <p:cNvPr id="7" name="Image 1" descr="/home/claude/img/q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5532120" cy="3383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is 33.4%, 104 of 311 staff.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highest at 39.7%, Sales lowest at 16.1%.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Production first.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63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peaked in 2015 (23) and 2016 (22).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before 2012, so a specific cause.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 exit reason for every leaver.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Analytics, 2006 to 2019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Performance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07008" y="1097280"/>
            <a:ext cx="10515600" cy="0"/>
          </a:xfrm>
          <a:prstGeom prst="line">
            <a:avLst/>
          </a:prstGeom>
          <a:noFill/>
          <a:ln w="19050">
            <a:solidFill>
              <a:srgbClr val="C7D5EC"/>
            </a:solidFill>
            <a:prstDash val="solid"/>
          </a:ln>
        </p:spPr>
      </p:sp>
      <p:pic>
        <p:nvPicPr>
          <p:cNvPr id="6" name="Image 0" descr="/home/claude/img/q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577840" cy="3383280"/>
          </a:xfrm>
          <a:prstGeom prst="rect">
            <a:avLst/>
          </a:prstGeom>
        </p:spPr>
      </p:pic>
      <p:pic>
        <p:nvPicPr>
          <p:cNvPr id="7" name="Image 1" descr="/home/claude/img/q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5532120" cy="3383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brings the most hires (87).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Job Fair best quality, 1 in 5 Exceeds.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referrals and fairs for quality.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63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stay 5.7 yrs, PIP stay 4.4 yrs.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performers stay longest.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top talent, act early on PIPs.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Analytics, 2006 to 2019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Engagement &amp; Satisfaction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07008" y="1097280"/>
            <a:ext cx="10515600" cy="0"/>
          </a:xfrm>
          <a:prstGeom prst="line">
            <a:avLst/>
          </a:prstGeom>
          <a:noFill/>
          <a:ln w="19050">
            <a:solidFill>
              <a:srgbClr val="C7D5EC"/>
            </a:solidFill>
            <a:prstDash val="solid"/>
          </a:ln>
        </p:spPr>
      </p:sp>
      <p:pic>
        <p:nvPicPr>
          <p:cNvPr id="6" name="Image 0" descr="/home/claude/img/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577840" cy="3383280"/>
          </a:xfrm>
          <a:prstGeom prst="rect">
            <a:avLst/>
          </a:prstGeom>
        </p:spPr>
      </p:pic>
      <p:pic>
        <p:nvPicPr>
          <p:cNvPr id="7" name="Image 1" descr="/home/claude/img/q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5532120" cy="3383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$70,629 vs women $67,787.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$2,842 (4.2%), small.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like-for-like pay review.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63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highest engagement (4.39).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lowest engagement (3.82).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engagement in Sales now.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Analytics, 2006 to 2019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Tenure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07008" y="1097280"/>
            <a:ext cx="10515600" cy="0"/>
          </a:xfrm>
          <a:prstGeom prst="line">
            <a:avLst/>
          </a:prstGeom>
          <a:noFill/>
          <a:ln w="19050">
            <a:solidFill>
              <a:srgbClr val="C7D5EC"/>
            </a:solidFill>
            <a:prstDash val="solid"/>
          </a:ln>
        </p:spPr>
      </p:sp>
      <p:pic>
        <p:nvPicPr>
          <p:cNvPr id="6" name="Image 0" descr="/home/claude/img/q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577840" cy="3383280"/>
          </a:xfrm>
          <a:prstGeom prst="rect">
            <a:avLst/>
          </a:prstGeom>
        </p:spPr>
      </p:pic>
      <p:pic>
        <p:nvPicPr>
          <p:cNvPr id="7" name="Image 1" descr="/home/claude/img/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5532120" cy="3383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turnover is 77.5%.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double any other age band.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and mentor young hires early.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63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stay about 3 yrs.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IT/IS leaves at 1.3 yrs, Production 3.3.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first year in IT/IS.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Analytics, 2006 to 2019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3716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Production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turnover in the largest team, the biggest single lever.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3317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under-30s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 churn. Onboarding, mentoring, and check-ins.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3291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IT/IS exits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gone by 1.3 yrs. Fix the first year.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251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for quality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spend to referrals and the Diversity Job Fair.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5212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pay gap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4.2% holds once role and tenure are controlled.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00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Analytics, 2006 to 2019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12161520" cy="5486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is high but concentrated, so it is fixable. Stabilize Production, keep young employees longer, and protect top performers</a:t>
            </a:r>
            <a:r>
              <a:rPr lang="en-US" sz="16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612</Words>
  <Application>Microsoft Office PowerPoint</Application>
  <PresentationFormat>Widescreen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BLESSING APARA</cp:lastModifiedBy>
  <cp:revision>3</cp:revision>
  <dcterms:created xsi:type="dcterms:W3CDTF">2026-07-15T22:39:00Z</dcterms:created>
  <dcterms:modified xsi:type="dcterms:W3CDTF">2026-07-15T22:47:14Z</dcterms:modified>
</cp:coreProperties>
</file>